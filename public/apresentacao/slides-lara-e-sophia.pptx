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de Lara: problema e quem sofre com ele.  — O problema (Lara, cerca de 30 segundos)</a:t>
            </a:r>
          </a:p>
          <a:p/>
          <a:p>
            <a:r>
              <a:t>“Oi, gente! Nós somos Lara e Sophia e nosso site se chama ‘Isso é golpe?’. Muitas mensagens tentam assustar as pessoas com uma cobrança urgente ou um problema que precisa ser resolvido na hora. Isso pode confundir principalmente os mais velhos. Nosso site é uma ajuda para parar, conferir os sinais e pensar antes de clicar.”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de Sophia: motivo real relatado pela dupla.  — Por que escolhemos (Sophia, cerca de 25 segundos)</a:t>
            </a:r>
          </a:p>
          <a:p/>
          <a:p>
            <a:r>
              <a:t>“Escolhemos esse desafio porque pensamos nos mais velhos, que podem cair nesses golpes com facilidade. Com a ajuda da OMNI, tivemos a ideia de criar um site para ajudar essas pessoas a reconhecer mensagens suspeitas. A frase que escolhemos é: ‘Mais calma para conferir. Mais cuidado antes de clicar.’”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Demonstração ao vivo com exemplo inventado.  — Demonstração e ferramentas (as duas, cerca de 1min20)</a:t>
            </a:r>
          </a:p>
          <a:p/>
          <a:p>
            <a:r>
              <a:t>Lara, com o site já aberto e logado:</a:t>
            </a:r>
          </a:p>
          <a:p>
            <a:r>
              <a:t>“Agora vamos mostrar com uma mensagem inventada. Ela diz que uma encomenda ficou retida e pede pagamento e dados pessoais em duas horas.”</a:t>
            </a:r>
          </a:p>
          <a:p/>
          <a:p>
            <a:r>
              <a:t>Cole o exemplo abaixo e clique em Analisar mensagem:</a:t>
            </a:r>
          </a:p>
          <a:p/>
          <a:p>
            <a:r>
              <a:t>AVISO URGENTE: sua encomenda está retida! Pague uma taxa de R$ 4,80 nas próximas 2 horas para evitar a devolução. Informe seu CPF e os dados do cartão pelo link desta mensagem.</a:t>
            </a:r>
          </a:p>
          <a:p/>
          <a:p>
            <a:r>
              <a:t>Enquanto a resposta carrega, Sophia:</a:t>
            </a:r>
          </a:p>
          <a:p>
            <a:r>
              <a:t>“O Codex ajudou a escrever o código. O GitHub guarda as versões, e a Vercel coloca o site no ar. O Supabase cuida do login e do histórico, e a OpenRouter dá acesso à inteligência artificial.”</a:t>
            </a:r>
          </a:p>
          <a:p/>
          <a:p>
            <a:r>
              <a:t>Quando aparecer a resposta, Lara:</a:t>
            </a:r>
          </a:p>
          <a:p>
            <a:r>
              <a:t>“A resposta traz um veredito, explica os sinais encontrados e orienta o que fazer. A IA pode errar; ela ajuda a conferir, mas não garante que uma mensagem é segura.”</a:t>
            </a:r>
          </a:p>
          <a:p/>
          <a:p>
            <a:r>
              <a:t>Sophia, abrindo Meu histórico:</a:t>
            </a:r>
          </a:p>
          <a:p>
            <a:r>
              <a:t>“A análise também fica salva no histórico da conta. Testamos duas contas e cada uma viu apenas as próprias análises.”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Problemas reais e aprendizado da paciência.  — O que deu errado e o que aprendemos (cerca de 1 minuto)</a:t>
            </a:r>
          </a:p>
          <a:p/>
          <a:p>
            <a:r>
              <a:t>Lara:</a:t>
            </a:r>
          </a:p>
          <a:p>
            <a:r>
              <a:t>“A maior dificuldade foi o começo: não fazíamos ideia de por onde começar. Também tivemos problemas para configurar a conexão com o Supabase. Conferimos os nomes e valores das variáveis na Vercel e conseguimos resolver.”</a:t>
            </a:r>
          </a:p>
          <a:p/>
          <a:p>
            <a:r>
              <a:t>Sophia:</a:t>
            </a:r>
          </a:p>
          <a:p>
            <a:r>
              <a:t>“Em outro momento, o projeto da Vercel foi apagado sem querer. Mas o código continuava no GitHub. Importamos o projeto novamente e o site voltou ao ar.”</a:t>
            </a:r>
          </a:p>
          <a:p/>
          <a:p>
            <a:r>
              <a:t>Lara:</a:t>
            </a:r>
          </a:p>
          <a:p>
            <a:r>
              <a:t>“Eu aprendi a ter paciência para começar e resolver uma etapa de cada vez.”</a:t>
            </a:r>
          </a:p>
          <a:p/>
          <a:p>
            <a:r>
              <a:t>Sophia:</a:t>
            </a:r>
          </a:p>
          <a:p>
            <a:r>
              <a:t>“Eu aprendi a ter paciência para olhar o site, conferir o resultado e continuar ajustando.”</a:t>
            </a:r>
          </a:p>
          <a:p/>
          <a:p>
            <a:r>
              <a:t>As duas:</a:t>
            </a:r>
          </a:p>
          <a:p>
            <a:r>
              <a:t>“Com a OMNI e as apostilas, conseguimos construir nosso site. Obrigada!”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914400" cy="762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285875"/>
            <a:ext cx="10668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6600" b="1">
                <a:solidFill>
                  <a:srgbClr val="4C1D95"/>
                </a:solidFill>
                <a:latin typeface="Nunito"/>
              </a:defRPr>
            </a:pPr>
            <a:r>
              <a:t>Isso é golpe?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2905125"/>
            <a:ext cx="10668000" cy="2095499"/>
          </a:xfrm>
          <a:prstGeom prst="roundRect">
            <a:avLst>
              <a:gd name="adj" fmla="val 10000"/>
            </a:avLst>
          </a:prstGeom>
          <a:solidFill>
            <a:srgbClr val="EEE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286125"/>
            <a:ext cx="9906000" cy="666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450" b="0">
                <a:solidFill>
                  <a:srgbClr val="2E2440"/>
                </a:solidFill>
                <a:latin typeface="Nunito"/>
              </a:defRPr>
            </a:pPr>
            <a:r>
              <a:t>Mais calma para conferir.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067175"/>
            <a:ext cx="9906000" cy="666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450" b="0">
                <a:solidFill>
                  <a:srgbClr val="2E2440"/>
                </a:solidFill>
                <a:latin typeface="Nunito"/>
              </a:defRPr>
            </a:pPr>
            <a:r>
              <a:t>Mais cuidado antes de clicar.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962650"/>
            <a:ext cx="10668000" cy="9525"/>
          </a:xfrm>
          <a:prstGeom prst="rect">
            <a:avLst/>
          </a:prstGeom>
          <a:solidFill>
            <a:srgbClr val="D8C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219825"/>
            <a:ext cx="952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635774"/>
                </a:solidFill>
                <a:latin typeface="Nunito"/>
              </a:defRPr>
            </a:pPr>
            <a:r>
              <a:t>Lara e Sophia · Do Zero ao Ar · Afesu Veleiros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219825"/>
            <a:ext cx="9525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1">
                <a:solidFill>
                  <a:srgbClr val="4C1D95"/>
                </a:solidFill>
                <a:latin typeface="Nunito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914400" cy="762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285875"/>
            <a:ext cx="10668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0" b="1">
                <a:solidFill>
                  <a:srgbClr val="4C1D95"/>
                </a:solidFill>
                <a:latin typeface="Nunito"/>
              </a:defRPr>
            </a:pPr>
            <a:r>
              <a:t>Para quem é o nosso site?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2905125"/>
            <a:ext cx="10668000" cy="2095499"/>
          </a:xfrm>
          <a:prstGeom prst="roundRect">
            <a:avLst>
              <a:gd name="adj" fmla="val 10000"/>
            </a:avLst>
          </a:prstGeom>
          <a:solidFill>
            <a:srgbClr val="EEE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286125"/>
            <a:ext cx="9906000" cy="666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0">
                <a:solidFill>
                  <a:srgbClr val="2E2440"/>
                </a:solidFill>
                <a:latin typeface="Nunito"/>
              </a:defRPr>
            </a:pPr>
            <a:r>
              <a:t>Para os mais velhos: uma ajuda para reconhecer golpes.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067175"/>
            <a:ext cx="9906000" cy="666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0">
                <a:solidFill>
                  <a:srgbClr val="2E2440"/>
                </a:solidFill>
                <a:latin typeface="Nunito"/>
              </a:defRPr>
            </a:pPr>
            <a:r>
              <a:t>Escolhemos esse cuidado com o apoio da OMNI.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962650"/>
            <a:ext cx="10668000" cy="9525"/>
          </a:xfrm>
          <a:prstGeom prst="rect">
            <a:avLst/>
          </a:prstGeom>
          <a:solidFill>
            <a:srgbClr val="D8C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219825"/>
            <a:ext cx="952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635774"/>
                </a:solidFill>
                <a:latin typeface="Nunito"/>
              </a:defRPr>
            </a:pPr>
            <a:r>
              <a:t>Lara e Sophia · Do Zero ao Ar · Afesu Veleiros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219825"/>
            <a:ext cx="9525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1">
                <a:solidFill>
                  <a:srgbClr val="4C1D95"/>
                </a:solidFill>
                <a:latin typeface="Nunito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914400" cy="762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285875"/>
            <a:ext cx="10668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0" b="1">
                <a:solidFill>
                  <a:srgbClr val="4C1D95"/>
                </a:solidFill>
                <a:latin typeface="Nunito"/>
              </a:defRPr>
            </a:pPr>
            <a:r>
              <a:t>Como funciona por dentro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2905125"/>
            <a:ext cx="10668000" cy="2095499"/>
          </a:xfrm>
          <a:prstGeom prst="roundRect">
            <a:avLst>
              <a:gd name="adj" fmla="val 10000"/>
            </a:avLst>
          </a:prstGeom>
          <a:solidFill>
            <a:srgbClr val="EEE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286125"/>
            <a:ext cx="9906000" cy="666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50" b="0">
                <a:solidFill>
                  <a:srgbClr val="2E2440"/>
                </a:solidFill>
                <a:latin typeface="Nunito"/>
              </a:defRPr>
            </a:pPr>
            <a:r>
              <a:t>Codex e GitHub: código · Vercel: publicação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067175"/>
            <a:ext cx="9906000" cy="666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50" b="0">
                <a:solidFill>
                  <a:srgbClr val="2E2440"/>
                </a:solidFill>
                <a:latin typeface="Nunito"/>
              </a:defRPr>
            </a:pPr>
            <a:r>
              <a:t>Supabase: login e histórico · OpenRouter: IA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962650"/>
            <a:ext cx="10668000" cy="9525"/>
          </a:xfrm>
          <a:prstGeom prst="rect">
            <a:avLst/>
          </a:prstGeom>
          <a:solidFill>
            <a:srgbClr val="D8C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219825"/>
            <a:ext cx="952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635774"/>
                </a:solidFill>
                <a:latin typeface="Nunito"/>
              </a:defRPr>
            </a:pPr>
            <a:r>
              <a:t>Lara e Sophia · Do Zero ao Ar · Afesu Veleiros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219825"/>
            <a:ext cx="9525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1">
                <a:solidFill>
                  <a:srgbClr val="4C1D95"/>
                </a:solidFill>
                <a:latin typeface="Nunito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914400" cy="762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285875"/>
            <a:ext cx="1066800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0" b="1">
                <a:solidFill>
                  <a:srgbClr val="4C1D95"/>
                </a:solidFill>
                <a:latin typeface="Nunito"/>
              </a:defRPr>
            </a:pPr>
            <a:r>
              <a:t>Aprendemos a ter paciência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2905125"/>
            <a:ext cx="10668000" cy="2095499"/>
          </a:xfrm>
          <a:prstGeom prst="roundRect">
            <a:avLst>
              <a:gd name="adj" fmla="val 10000"/>
            </a:avLst>
          </a:prstGeom>
          <a:solidFill>
            <a:srgbClr val="EEE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286125"/>
            <a:ext cx="9906000" cy="666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0">
                <a:solidFill>
                  <a:srgbClr val="2E2440"/>
                </a:solidFill>
                <a:latin typeface="Nunito"/>
              </a:defRPr>
            </a:pPr>
            <a:r>
              <a:t>No começo, não sabíamos por onde começar.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067175"/>
            <a:ext cx="9906000" cy="666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0">
                <a:solidFill>
                  <a:srgbClr val="2E2440"/>
                </a:solidFill>
                <a:latin typeface="Nunito"/>
              </a:defRPr>
            </a:pPr>
            <a:r>
              <a:t>A OMNI e as apostilas ajudaram a dar cada passo.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962650"/>
            <a:ext cx="10668000" cy="9525"/>
          </a:xfrm>
          <a:prstGeom prst="rect">
            <a:avLst/>
          </a:prstGeom>
          <a:solidFill>
            <a:srgbClr val="D8C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219825"/>
            <a:ext cx="952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0">
                <a:solidFill>
                  <a:srgbClr val="635774"/>
                </a:solidFill>
                <a:latin typeface="Nunito"/>
              </a:defRPr>
            </a:pPr>
            <a:r>
              <a:t>Lara e Sophia · Do Zero ao Ar · Afesu Veleiros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219825"/>
            <a:ext cx="9525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50" b="1">
                <a:solidFill>
                  <a:srgbClr val="4C1D95"/>
                </a:solidFill>
                <a:latin typeface="Nunito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Isso é golpe? — Lara e Sophia</dc:title>
  <dc:subject>Do Zero ao Ar — apresentação do Dia 3</dc:subject>
  <dc:creator>Lara e Sophia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